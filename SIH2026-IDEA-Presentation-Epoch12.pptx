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990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873457" y="904710"/>
            <a:ext cx="2821415" cy="57763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327355" y="-621133"/>
            <a:ext cx="8350740" cy="207645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692441"/>
            <a:ext cx="6887661" cy="3709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1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26104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 </a:t>
            </a:r>
            <a:r>
              <a:rPr lang="en-US" sz="1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Real-Time Detection and Prevention of Voice Cloning Impersonation Attacks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US" sz="16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 &amp; Safety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1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ID- </a:t>
            </a:r>
            <a:r>
              <a:rPr lang="en-US" sz="1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TEAM26104E12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 (Registered on portal)- </a:t>
            </a:r>
            <a:r>
              <a:rPr lang="en-US" sz="16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Epoch12</a:t>
            </a:r>
            <a:endParaRPr lang="en-IN" sz="1600" b="1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389" y="-27026"/>
            <a:ext cx="2249850" cy="1062337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470CFC56-0F7D-A453-B814-8D2E18616C73}"/>
              </a:ext>
            </a:extLst>
          </p:cNvPr>
          <p:cNvSpPr txBox="1"/>
          <p:nvPr/>
        </p:nvSpPr>
        <p:spPr>
          <a:xfrm>
            <a:off x="11658600" y="6400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Epoch12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Subtitle 3">
            <a:extLst>
              <a:ext uri="{FF2B5EF4-FFF2-40B4-BE49-F238E27FC236}">
                <a16:creationId xmlns:a16="http://schemas.microsoft.com/office/drawing/2014/main" id="{718F5D24-DE09-745E-049A-CCE00A276A0E}"/>
              </a:ext>
            </a:extLst>
          </p:cNvPr>
          <p:cNvSpPr txBox="1">
            <a:spLocks/>
          </p:cNvSpPr>
          <p:nvPr/>
        </p:nvSpPr>
        <p:spPr bwMode="auto">
          <a:xfrm>
            <a:off x="4178257" y="542500"/>
            <a:ext cx="2821415" cy="577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TITLE 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C20C67F-1344-69AC-DFA3-8CC1C6D7EC04}"/>
              </a:ext>
            </a:extLst>
          </p:cNvPr>
          <p:cNvSpPr/>
          <p:nvPr/>
        </p:nvSpPr>
        <p:spPr>
          <a:xfrm>
            <a:off x="11658600" y="6400800"/>
            <a:ext cx="365760" cy="3200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EDBCD72D-8C6D-B5DE-E02F-9411B7D2E0B8}"/>
              </a:ext>
            </a:extLst>
          </p:cNvPr>
          <p:cNvSpPr txBox="1"/>
          <p:nvPr/>
        </p:nvSpPr>
        <p:spPr>
          <a:xfrm>
            <a:off x="11658600" y="6400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F231B8DA-99DF-2819-CE43-8038D504073D}"/>
              </a:ext>
            </a:extLst>
          </p:cNvPr>
          <p:cNvSpPr txBox="1"/>
          <p:nvPr/>
        </p:nvSpPr>
        <p:spPr>
          <a:xfrm>
            <a:off x="411480" y="122929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VoiceShield AI – Real-Time Voice Integrity &amp; Scam Prevention System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7EEBA045-8BDD-F628-0F00-D4B72DE33B9A}"/>
              </a:ext>
            </a:extLst>
          </p:cNvPr>
          <p:cNvSpPr txBox="1"/>
          <p:nvPr/>
        </p:nvSpPr>
        <p:spPr>
          <a:xfrm>
            <a:off x="415992" y="17522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(Describe your Idea/Solution/Prototype)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809A363F-47B6-6909-6EC6-B90B0C8DB7AF}"/>
              </a:ext>
            </a:extLst>
          </p:cNvPr>
          <p:cNvSpPr txBox="1"/>
          <p:nvPr/>
        </p:nvSpPr>
        <p:spPr>
          <a:xfrm>
            <a:off x="342908" y="2105503"/>
            <a:ext cx="5737852" cy="2200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engine analyzes live voice for cloning, deepfake &amp; impersonation during calls.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9-signal fusion model generates dynamic risk score (0–100) with contextual intelligence.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 &amp; action nudges (callback, MFA, escalate) before user takes any sensitive action.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Multi-platform protection: Android in-call, Web dashboard &amp; Public API/SDK for enterprise integration.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D6F5B135-06E4-ADE5-8A2E-FA8AEA05A867}"/>
              </a:ext>
            </a:extLst>
          </p:cNvPr>
          <p:cNvSpPr txBox="1"/>
          <p:nvPr/>
        </p:nvSpPr>
        <p:spPr>
          <a:xfrm>
            <a:off x="457200" y="438723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D7969334-3E91-672E-042E-37226AE1ABB1}"/>
              </a:ext>
            </a:extLst>
          </p:cNvPr>
          <p:cNvSpPr txBox="1"/>
          <p:nvPr/>
        </p:nvSpPr>
        <p:spPr>
          <a:xfrm>
            <a:off x="334296" y="4705375"/>
            <a:ext cx="58912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9-signal hard+soft fusion with psycho-linguistic coercion scoring.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in real-time with low latency (&lt; 2 sec) on-device &amp; cloud hybrid.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for Indian accents &amp; multilingual speech with contextual enrichment.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5" name="Table 0">
            <a:extLst>
              <a:ext uri="{FF2B5EF4-FFF2-40B4-BE49-F238E27FC236}">
                <a16:creationId xmlns:a16="http://schemas.microsoft.com/office/drawing/2014/main" id="{B2F32C31-437E-16B9-681C-7871516C6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224858"/>
              </p:ext>
            </p:extLst>
          </p:nvPr>
        </p:nvGraphicFramePr>
        <p:xfrm>
          <a:off x="7186889" y="2095836"/>
          <a:ext cx="4837471" cy="2967465"/>
        </p:xfrm>
        <a:graphic>
          <a:graphicData uri="http://schemas.openxmlformats.org/drawingml/2006/table">
            <a:tbl>
              <a:tblPr/>
              <a:tblGrid>
                <a:gridCol w="2061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Problem Gap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8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Our Solution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High-fidelity voice clones bypass human verification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AI model detects synthetic artifacts, prosody &amp; behavioural anomalies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No real-time detection during live calls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Real-time risk score with instant alerts before actions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Lack of contextual awareness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Enriches with call origin, contact history, transaction context, fraud history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Hard for users to act during urgency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Pre-transaction warnings with callback/MFA/escalation suggestions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7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No easy reporting &amp; evidence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One-tap report with auto evidence bundle for NCRP &amp; banks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9" name="Picture 48">
            <a:extLst>
              <a:ext uri="{FF2B5EF4-FFF2-40B4-BE49-F238E27FC236}">
                <a16:creationId xmlns:a16="http://schemas.microsoft.com/office/drawing/2014/main" id="{AC149B4F-72C2-EF9C-7AF0-CE05B8D58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200" y="1743473"/>
            <a:ext cx="5891236" cy="3927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DEDE42B-7E55-95C2-27D2-4E4A020A83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Epoch12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3">
            <a:extLst>
              <a:ext uri="{FF2B5EF4-FFF2-40B4-BE49-F238E27FC236}">
                <a16:creationId xmlns:a16="http://schemas.microsoft.com/office/drawing/2014/main" id="{F0F9E214-4129-6FB6-A104-C1110DB35873}"/>
              </a:ext>
            </a:extLst>
          </p:cNvPr>
          <p:cNvSpPr txBox="1">
            <a:spLocks/>
          </p:cNvSpPr>
          <p:nvPr/>
        </p:nvSpPr>
        <p:spPr bwMode="auto">
          <a:xfrm>
            <a:off x="3382297" y="532668"/>
            <a:ext cx="5250426" cy="577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5CC484F0-0A2D-9744-961C-2FCBBF3D3E90}"/>
              </a:ext>
            </a:extLst>
          </p:cNvPr>
          <p:cNvSpPr/>
          <p:nvPr/>
        </p:nvSpPr>
        <p:spPr>
          <a:xfrm>
            <a:off x="11658600" y="6400800"/>
            <a:ext cx="365760" cy="3200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90130BF-1EE9-CD89-12B2-603029A86B7A}"/>
              </a:ext>
            </a:extLst>
          </p:cNvPr>
          <p:cNvSpPr txBox="1"/>
          <p:nvPr/>
        </p:nvSpPr>
        <p:spPr>
          <a:xfrm>
            <a:off x="11658600" y="6400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8733A78C-CEFB-CE6A-037E-78D1DB293015}"/>
              </a:ext>
            </a:extLst>
          </p:cNvPr>
          <p:cNvSpPr txBox="1"/>
          <p:nvPr/>
        </p:nvSpPr>
        <p:spPr>
          <a:xfrm>
            <a:off x="457200" y="1097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A4CDA59C-B7EF-A876-3F4D-A602D462E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803379"/>
              </p:ext>
            </p:extLst>
          </p:nvPr>
        </p:nvGraphicFramePr>
        <p:xfrm>
          <a:off x="457200" y="1417320"/>
          <a:ext cx="5303520" cy="4197883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 chosen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8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Frontend (Mobile)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React Native (Expo)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Cross-platform, in-call overlay, fast UI, large community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Frontend (Web)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React.js + Tailwind CSS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Responsive dashboard, rich visualization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Python (FastAPI)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High performance, async support, easy ML integration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AI / ML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PyTorch &amp; torchaudio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State-of-the-art models, flexible research, real-time inference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MongoDB Atlas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Scalable NoSQL, flexible schema for logs &amp; metadata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2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Cache / Queue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Redis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Low-latency caching, real-time streams &amp; session store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1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Hosting / Cloud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AWS (EC2, S3, Lambda)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Scalable, secure, global infra, easy CI/CD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6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Communication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WebRTC + Twilio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Real-time audio streaming &amp; telephony integration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 10">
            <a:extLst>
              <a:ext uri="{FF2B5EF4-FFF2-40B4-BE49-F238E27FC236}">
                <a16:creationId xmlns:a16="http://schemas.microsoft.com/office/drawing/2014/main" id="{3C8E3CB7-D453-04E0-1F32-83866993162D}"/>
              </a:ext>
            </a:extLst>
          </p:cNvPr>
          <p:cNvSpPr txBox="1"/>
          <p:nvPr/>
        </p:nvSpPr>
        <p:spPr>
          <a:xfrm>
            <a:off x="6162958" y="12033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Process (System Flow)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B69CC80D-EBF1-6640-CCF8-DC7538F4D3AE}"/>
              </a:ext>
            </a:extLst>
          </p:cNvPr>
          <p:cNvSpPr/>
          <p:nvPr/>
        </p:nvSpPr>
        <p:spPr>
          <a:xfrm>
            <a:off x="6007510" y="1678001"/>
            <a:ext cx="310896" cy="31089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263CF999-4CA0-6C4F-BAE8-35B5FEB0554A}"/>
              </a:ext>
            </a:extLst>
          </p:cNvPr>
          <p:cNvSpPr txBox="1"/>
          <p:nvPr/>
        </p:nvSpPr>
        <p:spPr>
          <a:xfrm>
            <a:off x="6007510" y="16780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2BEE3495-8550-5CA0-AF6A-B5559F8064E4}"/>
              </a:ext>
            </a:extLst>
          </p:cNvPr>
          <p:cNvSpPr/>
          <p:nvPr/>
        </p:nvSpPr>
        <p:spPr>
          <a:xfrm>
            <a:off x="6464710" y="1678001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6C64CAC8-5709-DB44-9FBB-74B435E7BE92}"/>
              </a:ext>
            </a:extLst>
          </p:cNvPr>
          <p:cNvSpPr txBox="1"/>
          <p:nvPr/>
        </p:nvSpPr>
        <p:spPr>
          <a:xfrm>
            <a:off x="6601870" y="1678001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initiates/receives a call (VoIP/Telephony/App)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7AEAD5C4-8E48-3E00-4238-0D8BD0CC7EB7}"/>
              </a:ext>
            </a:extLst>
          </p:cNvPr>
          <p:cNvSpPr/>
          <p:nvPr/>
        </p:nvSpPr>
        <p:spPr>
          <a:xfrm>
            <a:off x="6007510" y="2098625"/>
            <a:ext cx="310896" cy="31089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D32021AE-5626-58C2-D13D-391E32EB030F}"/>
              </a:ext>
            </a:extLst>
          </p:cNvPr>
          <p:cNvSpPr txBox="1"/>
          <p:nvPr/>
        </p:nvSpPr>
        <p:spPr>
          <a:xfrm>
            <a:off x="6007510" y="20986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606E33E2-5956-91B8-818F-2B85A0004FAB}"/>
              </a:ext>
            </a:extLst>
          </p:cNvPr>
          <p:cNvSpPr/>
          <p:nvPr/>
        </p:nvSpPr>
        <p:spPr>
          <a:xfrm>
            <a:off x="6464710" y="2098625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AD3FB778-B954-A7C2-3965-3A3F609A4A01}"/>
              </a:ext>
            </a:extLst>
          </p:cNvPr>
          <p:cNvSpPr txBox="1"/>
          <p:nvPr/>
        </p:nvSpPr>
        <p:spPr>
          <a:xfrm>
            <a:off x="6601870" y="2098625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audio captured &amp; streamed (WebRTC)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DEEFA961-A7C1-369E-5727-48D9E35C0FA8}"/>
              </a:ext>
            </a:extLst>
          </p:cNvPr>
          <p:cNvSpPr/>
          <p:nvPr/>
        </p:nvSpPr>
        <p:spPr>
          <a:xfrm>
            <a:off x="6007510" y="2519249"/>
            <a:ext cx="310896" cy="31089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0F2C9F0E-6024-5804-814A-418C4EAB2FE7}"/>
              </a:ext>
            </a:extLst>
          </p:cNvPr>
          <p:cNvSpPr txBox="1"/>
          <p:nvPr/>
        </p:nvSpPr>
        <p:spPr>
          <a:xfrm>
            <a:off x="6007510" y="25192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33239DC7-5A26-02A6-6E28-D1CF4C405EA0}"/>
              </a:ext>
            </a:extLst>
          </p:cNvPr>
          <p:cNvSpPr/>
          <p:nvPr/>
        </p:nvSpPr>
        <p:spPr>
          <a:xfrm>
            <a:off x="6464710" y="2519249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C7D049AD-46F2-8DBC-EF5C-E7138214377D}"/>
              </a:ext>
            </a:extLst>
          </p:cNvPr>
          <p:cNvSpPr txBox="1"/>
          <p:nvPr/>
        </p:nvSpPr>
        <p:spPr>
          <a:xfrm>
            <a:off x="6601870" y="2519249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preprocessing (denoise, VAD, segmentation)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6E5F0B86-0776-63F4-8F32-F410121CA392}"/>
              </a:ext>
            </a:extLst>
          </p:cNvPr>
          <p:cNvSpPr/>
          <p:nvPr/>
        </p:nvSpPr>
        <p:spPr>
          <a:xfrm>
            <a:off x="6007510" y="2939873"/>
            <a:ext cx="310896" cy="31089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E17A6EA3-5CCB-F412-868E-616A2F9EF180}"/>
              </a:ext>
            </a:extLst>
          </p:cNvPr>
          <p:cNvSpPr txBox="1"/>
          <p:nvPr/>
        </p:nvSpPr>
        <p:spPr>
          <a:xfrm>
            <a:off x="6007510" y="29398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30ED3A7B-94CE-FEDA-F267-C767485C0A30}"/>
              </a:ext>
            </a:extLst>
          </p:cNvPr>
          <p:cNvSpPr/>
          <p:nvPr/>
        </p:nvSpPr>
        <p:spPr>
          <a:xfrm>
            <a:off x="6464710" y="2939873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A2E64284-0EA1-F4C5-A17C-6BAD797B02AF}"/>
              </a:ext>
            </a:extLst>
          </p:cNvPr>
          <p:cNvSpPr txBox="1"/>
          <p:nvPr/>
        </p:nvSpPr>
        <p:spPr>
          <a:xfrm>
            <a:off x="6601870" y="2939873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9-signal feature extraction (audio + biometric + NLP)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F9C1CC0F-92FE-185B-6306-6DC127DB88B3}"/>
              </a:ext>
            </a:extLst>
          </p:cNvPr>
          <p:cNvSpPr/>
          <p:nvPr/>
        </p:nvSpPr>
        <p:spPr>
          <a:xfrm>
            <a:off x="6007510" y="3360497"/>
            <a:ext cx="310896" cy="31089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BA5DABAC-0D1C-E7E6-AFC6-448C0AEF97B6}"/>
              </a:ext>
            </a:extLst>
          </p:cNvPr>
          <p:cNvSpPr txBox="1"/>
          <p:nvPr/>
        </p:nvSpPr>
        <p:spPr>
          <a:xfrm>
            <a:off x="6007510" y="336049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0CBA9E99-BC2D-E57A-4A0B-7230E59B9E67}"/>
              </a:ext>
            </a:extLst>
          </p:cNvPr>
          <p:cNvSpPr/>
          <p:nvPr/>
        </p:nvSpPr>
        <p:spPr>
          <a:xfrm>
            <a:off x="6464710" y="3360497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17411" name="Text 30">
            <a:extLst>
              <a:ext uri="{FF2B5EF4-FFF2-40B4-BE49-F238E27FC236}">
                <a16:creationId xmlns:a16="http://schemas.microsoft.com/office/drawing/2014/main" id="{3245D0F0-CAA9-6B90-7130-835588DE8C81}"/>
              </a:ext>
            </a:extLst>
          </p:cNvPr>
          <p:cNvSpPr txBox="1"/>
          <p:nvPr/>
        </p:nvSpPr>
        <p:spPr>
          <a:xfrm>
            <a:off x="6601870" y="3360497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inference &amp; risk score generation (0–100)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Shape 31">
            <a:extLst>
              <a:ext uri="{FF2B5EF4-FFF2-40B4-BE49-F238E27FC236}">
                <a16:creationId xmlns:a16="http://schemas.microsoft.com/office/drawing/2014/main" id="{7ED69C10-143D-B402-105B-4B7CF150D9BC}"/>
              </a:ext>
            </a:extLst>
          </p:cNvPr>
          <p:cNvSpPr/>
          <p:nvPr/>
        </p:nvSpPr>
        <p:spPr>
          <a:xfrm>
            <a:off x="6007510" y="3781121"/>
            <a:ext cx="310896" cy="31089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17415" name="Text 32">
            <a:extLst>
              <a:ext uri="{FF2B5EF4-FFF2-40B4-BE49-F238E27FC236}">
                <a16:creationId xmlns:a16="http://schemas.microsoft.com/office/drawing/2014/main" id="{C3D6AA9C-FC04-75D9-050A-BD16751C8777}"/>
              </a:ext>
            </a:extLst>
          </p:cNvPr>
          <p:cNvSpPr txBox="1"/>
          <p:nvPr/>
        </p:nvSpPr>
        <p:spPr>
          <a:xfrm>
            <a:off x="6007510" y="378112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7" name="Shape 33">
            <a:extLst>
              <a:ext uri="{FF2B5EF4-FFF2-40B4-BE49-F238E27FC236}">
                <a16:creationId xmlns:a16="http://schemas.microsoft.com/office/drawing/2014/main" id="{90ABE0AD-BBE8-E7D4-983C-C2EF9A78050A}"/>
              </a:ext>
            </a:extLst>
          </p:cNvPr>
          <p:cNvSpPr/>
          <p:nvPr/>
        </p:nvSpPr>
        <p:spPr>
          <a:xfrm>
            <a:off x="6464710" y="3781121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17419" name="Text 34">
            <a:extLst>
              <a:ext uri="{FF2B5EF4-FFF2-40B4-BE49-F238E27FC236}">
                <a16:creationId xmlns:a16="http://schemas.microsoft.com/office/drawing/2014/main" id="{95C5C1DA-9C3D-9BCC-4ED4-791395332BAA}"/>
              </a:ext>
            </a:extLst>
          </p:cNvPr>
          <p:cNvSpPr txBox="1"/>
          <p:nvPr/>
        </p:nvSpPr>
        <p:spPr>
          <a:xfrm>
            <a:off x="6601870" y="3781121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enrichment (caller ID, history, transaction data)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1" name="Shape 35">
            <a:extLst>
              <a:ext uri="{FF2B5EF4-FFF2-40B4-BE49-F238E27FC236}">
                <a16:creationId xmlns:a16="http://schemas.microsoft.com/office/drawing/2014/main" id="{BACF7A64-79E8-582D-3D51-22F12108E5A7}"/>
              </a:ext>
            </a:extLst>
          </p:cNvPr>
          <p:cNvSpPr/>
          <p:nvPr/>
        </p:nvSpPr>
        <p:spPr>
          <a:xfrm>
            <a:off x="6007510" y="4201745"/>
            <a:ext cx="310896" cy="31089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17423" name="Text 36">
            <a:extLst>
              <a:ext uri="{FF2B5EF4-FFF2-40B4-BE49-F238E27FC236}">
                <a16:creationId xmlns:a16="http://schemas.microsoft.com/office/drawing/2014/main" id="{142B191F-28D3-2684-7058-2B941ED6D551}"/>
              </a:ext>
            </a:extLst>
          </p:cNvPr>
          <p:cNvSpPr txBox="1"/>
          <p:nvPr/>
        </p:nvSpPr>
        <p:spPr>
          <a:xfrm>
            <a:off x="6007510" y="420174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5" name="Shape 37">
            <a:extLst>
              <a:ext uri="{FF2B5EF4-FFF2-40B4-BE49-F238E27FC236}">
                <a16:creationId xmlns:a16="http://schemas.microsoft.com/office/drawing/2014/main" id="{4A6F39FB-3206-1443-5695-2A86E7679825}"/>
              </a:ext>
            </a:extLst>
          </p:cNvPr>
          <p:cNvSpPr/>
          <p:nvPr/>
        </p:nvSpPr>
        <p:spPr>
          <a:xfrm>
            <a:off x="6464710" y="4201745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17427" name="Text 38">
            <a:extLst>
              <a:ext uri="{FF2B5EF4-FFF2-40B4-BE49-F238E27FC236}">
                <a16:creationId xmlns:a16="http://schemas.microsoft.com/office/drawing/2014/main" id="{132C48FB-05AC-423D-09A6-EE6BE770A761}"/>
              </a:ext>
            </a:extLst>
          </p:cNvPr>
          <p:cNvSpPr txBox="1"/>
          <p:nvPr/>
        </p:nvSpPr>
        <p:spPr>
          <a:xfrm>
            <a:off x="6601870" y="4201745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Alerting &amp; action nudges based on threshold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9" name="Shape 39">
            <a:extLst>
              <a:ext uri="{FF2B5EF4-FFF2-40B4-BE49-F238E27FC236}">
                <a16:creationId xmlns:a16="http://schemas.microsoft.com/office/drawing/2014/main" id="{E436AE07-C656-BCD5-DA22-1300C4D834DE}"/>
              </a:ext>
            </a:extLst>
          </p:cNvPr>
          <p:cNvSpPr/>
          <p:nvPr/>
        </p:nvSpPr>
        <p:spPr>
          <a:xfrm>
            <a:off x="6007510" y="4622369"/>
            <a:ext cx="310896" cy="310896"/>
          </a:xfrm>
          <a:prstGeom prst="ellipse">
            <a:avLst/>
          </a:prstGeom>
          <a:solidFill>
            <a:srgbClr val="1B2A6B"/>
          </a:solidFill>
          <a:ln/>
        </p:spPr>
      </p:sp>
      <p:sp>
        <p:nvSpPr>
          <p:cNvPr id="17431" name="Text 40">
            <a:extLst>
              <a:ext uri="{FF2B5EF4-FFF2-40B4-BE49-F238E27FC236}">
                <a16:creationId xmlns:a16="http://schemas.microsoft.com/office/drawing/2014/main" id="{06CBC73C-F13D-B47F-77E7-CBF703CA554C}"/>
              </a:ext>
            </a:extLst>
          </p:cNvPr>
          <p:cNvSpPr txBox="1"/>
          <p:nvPr/>
        </p:nvSpPr>
        <p:spPr>
          <a:xfrm>
            <a:off x="6007510" y="46223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3" name="Shape 41">
            <a:extLst>
              <a:ext uri="{FF2B5EF4-FFF2-40B4-BE49-F238E27FC236}">
                <a16:creationId xmlns:a16="http://schemas.microsoft.com/office/drawing/2014/main" id="{AE6EB36F-3865-3C40-30ED-41383CE8C196}"/>
              </a:ext>
            </a:extLst>
          </p:cNvPr>
          <p:cNvSpPr/>
          <p:nvPr/>
        </p:nvSpPr>
        <p:spPr>
          <a:xfrm>
            <a:off x="6464710" y="4622369"/>
            <a:ext cx="5212080" cy="310896"/>
          </a:xfrm>
          <a:prstGeom prst="roundRect">
            <a:avLst>
              <a:gd name="adj" fmla="val 14706"/>
            </a:avLst>
          </a:prstGeom>
          <a:solidFill>
            <a:srgbClr val="F2F2F2"/>
          </a:solidFill>
          <a:ln/>
        </p:spPr>
      </p:sp>
      <p:sp>
        <p:nvSpPr>
          <p:cNvPr id="17435" name="Text 42">
            <a:extLst>
              <a:ext uri="{FF2B5EF4-FFF2-40B4-BE49-F238E27FC236}">
                <a16:creationId xmlns:a16="http://schemas.microsoft.com/office/drawing/2014/main" id="{513B8805-414C-E468-B0B4-7A5788A5E8FE}"/>
              </a:ext>
            </a:extLst>
          </p:cNvPr>
          <p:cNvSpPr txBox="1"/>
          <p:nvPr/>
        </p:nvSpPr>
        <p:spPr>
          <a:xfrm>
            <a:off x="6601870" y="4622369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 (user action &amp; model retraining)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7" name="Shape 43">
            <a:extLst>
              <a:ext uri="{FF2B5EF4-FFF2-40B4-BE49-F238E27FC236}">
                <a16:creationId xmlns:a16="http://schemas.microsoft.com/office/drawing/2014/main" id="{FB9938AE-82B5-0FDA-93EC-2B1B3D4F2CCC}"/>
              </a:ext>
            </a:extLst>
          </p:cNvPr>
          <p:cNvSpPr/>
          <p:nvPr/>
        </p:nvSpPr>
        <p:spPr>
          <a:xfrm>
            <a:off x="5979980" y="5061281"/>
            <a:ext cx="5669280" cy="630618"/>
          </a:xfrm>
          <a:prstGeom prst="roundRect">
            <a:avLst>
              <a:gd name="adj" fmla="val 11905"/>
            </a:avLst>
          </a:prstGeom>
          <a:solidFill>
            <a:srgbClr val="2E7D32"/>
          </a:solidFill>
          <a:ln/>
        </p:spPr>
      </p:sp>
      <p:sp>
        <p:nvSpPr>
          <p:cNvPr id="17439" name="Text 44">
            <a:extLst>
              <a:ext uri="{FF2B5EF4-FFF2-40B4-BE49-F238E27FC236}">
                <a16:creationId xmlns:a16="http://schemas.microsoft.com/office/drawing/2014/main" id="{10A49216-F333-DD73-B82D-DC03DA8945FA}"/>
              </a:ext>
            </a:extLst>
          </p:cNvPr>
          <p:cNvSpPr txBox="1"/>
          <p:nvPr/>
        </p:nvSpPr>
        <p:spPr>
          <a:xfrm>
            <a:off x="6080662" y="5061281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/ Demo Status: Working prototype exists (Android in-call, WebRTC tap, AI inference pipeline). SIH-grade integration &amp; enterprise APIs planned.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3965159-2C6B-6F5E-1BCF-04C0003111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Epoch12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D76DF19-35E1-A6C6-B304-E4A9EF73EDF9}"/>
              </a:ext>
            </a:extLst>
          </p:cNvPr>
          <p:cNvSpPr txBox="1">
            <a:spLocks/>
          </p:cNvSpPr>
          <p:nvPr/>
        </p:nvSpPr>
        <p:spPr bwMode="auto">
          <a:xfrm>
            <a:off x="2846607" y="595710"/>
            <a:ext cx="6933479" cy="577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59" name="Shape 3">
            <a:extLst>
              <a:ext uri="{FF2B5EF4-FFF2-40B4-BE49-F238E27FC236}">
                <a16:creationId xmlns:a16="http://schemas.microsoft.com/office/drawing/2014/main" id="{F673FCE1-5F67-10E1-1CD4-080793C888B2}"/>
              </a:ext>
            </a:extLst>
          </p:cNvPr>
          <p:cNvSpPr/>
          <p:nvPr/>
        </p:nvSpPr>
        <p:spPr>
          <a:xfrm>
            <a:off x="433426" y="658998"/>
            <a:ext cx="221285" cy="22128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561" name="Text 6">
            <a:extLst>
              <a:ext uri="{FF2B5EF4-FFF2-40B4-BE49-F238E27FC236}">
                <a16:creationId xmlns:a16="http://schemas.microsoft.com/office/drawing/2014/main" id="{F593E6F7-DCF5-7A77-960A-BCEFF179AF44}"/>
              </a:ext>
            </a:extLst>
          </p:cNvPr>
          <p:cNvSpPr txBox="1"/>
          <p:nvPr/>
        </p:nvSpPr>
        <p:spPr>
          <a:xfrm>
            <a:off x="8842248" y="4633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Template
</a:t>
            </a:r>
            <a:r>
              <a:rPr lang="en-US" sz="13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63" name="Shape 7">
            <a:extLst>
              <a:ext uri="{FF2B5EF4-FFF2-40B4-BE49-F238E27FC236}">
                <a16:creationId xmlns:a16="http://schemas.microsoft.com/office/drawing/2014/main" id="{CF698DC4-A490-56D2-5BEC-D1B0A2AE51C1}"/>
              </a:ext>
            </a:extLst>
          </p:cNvPr>
          <p:cNvSpPr/>
          <p:nvPr/>
        </p:nvSpPr>
        <p:spPr>
          <a:xfrm>
            <a:off x="11672316" y="6356353"/>
            <a:ext cx="365760" cy="3200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7565" name="Text 8">
            <a:extLst>
              <a:ext uri="{FF2B5EF4-FFF2-40B4-BE49-F238E27FC236}">
                <a16:creationId xmlns:a16="http://schemas.microsoft.com/office/drawing/2014/main" id="{79864E66-D632-BC31-87B9-86CF340A23FB}"/>
              </a:ext>
            </a:extLst>
          </p:cNvPr>
          <p:cNvSpPr txBox="1"/>
          <p:nvPr/>
        </p:nvSpPr>
        <p:spPr>
          <a:xfrm>
            <a:off x="11631168" y="6356353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67" name="Text 9">
            <a:extLst>
              <a:ext uri="{FF2B5EF4-FFF2-40B4-BE49-F238E27FC236}">
                <a16:creationId xmlns:a16="http://schemas.microsoft.com/office/drawing/2014/main" id="{FC31C27B-09E1-BF54-5980-27F5A4208B9C}"/>
              </a:ext>
            </a:extLst>
          </p:cNvPr>
          <p:cNvSpPr txBox="1"/>
          <p:nvPr/>
        </p:nvSpPr>
        <p:spPr>
          <a:xfrm>
            <a:off x="429768" y="13594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69" name="Shape 10">
            <a:extLst>
              <a:ext uri="{FF2B5EF4-FFF2-40B4-BE49-F238E27FC236}">
                <a16:creationId xmlns:a16="http://schemas.microsoft.com/office/drawing/2014/main" id="{A85E98F9-BB72-8E13-4FC9-FCC9A6BBA7B5}"/>
              </a:ext>
            </a:extLst>
          </p:cNvPr>
          <p:cNvSpPr/>
          <p:nvPr/>
        </p:nvSpPr>
        <p:spPr>
          <a:xfrm>
            <a:off x="475488" y="1770908"/>
            <a:ext cx="384048" cy="38404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571" name="Text 11">
            <a:extLst>
              <a:ext uri="{FF2B5EF4-FFF2-40B4-BE49-F238E27FC236}">
                <a16:creationId xmlns:a16="http://schemas.microsoft.com/office/drawing/2014/main" id="{20C08C7F-93D5-EE3E-1E42-310EF6EE17AC}"/>
              </a:ext>
            </a:extLst>
          </p:cNvPr>
          <p:cNvSpPr txBox="1"/>
          <p:nvPr/>
        </p:nvSpPr>
        <p:spPr>
          <a:xfrm>
            <a:off x="1024128" y="17709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73" name="Text 12">
            <a:extLst>
              <a:ext uri="{FF2B5EF4-FFF2-40B4-BE49-F238E27FC236}">
                <a16:creationId xmlns:a16="http://schemas.microsoft.com/office/drawing/2014/main" id="{2D67FB50-4B90-F265-9B92-6B0FCE9A7457}"/>
              </a:ext>
            </a:extLst>
          </p:cNvPr>
          <p:cNvSpPr txBox="1"/>
          <p:nvPr/>
        </p:nvSpPr>
        <p:spPr>
          <a:xfrm>
            <a:off x="1024128" y="206351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core components are built using proven open-source tools &amp; cloud services; real-time inference achieved (&lt; 2 sec latency).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75" name="Shape 13">
            <a:extLst>
              <a:ext uri="{FF2B5EF4-FFF2-40B4-BE49-F238E27FC236}">
                <a16:creationId xmlns:a16="http://schemas.microsoft.com/office/drawing/2014/main" id="{0911DE20-CB0C-8279-672B-CC331F0C9D14}"/>
              </a:ext>
            </a:extLst>
          </p:cNvPr>
          <p:cNvSpPr/>
          <p:nvPr/>
        </p:nvSpPr>
        <p:spPr>
          <a:xfrm>
            <a:off x="475488" y="2913908"/>
            <a:ext cx="384048" cy="38404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577" name="Text 14">
            <a:extLst>
              <a:ext uri="{FF2B5EF4-FFF2-40B4-BE49-F238E27FC236}">
                <a16:creationId xmlns:a16="http://schemas.microsoft.com/office/drawing/2014/main" id="{CF074718-9E99-6982-FCCD-C5A7DE52F44A}"/>
              </a:ext>
            </a:extLst>
          </p:cNvPr>
          <p:cNvSpPr txBox="1"/>
          <p:nvPr/>
        </p:nvSpPr>
        <p:spPr>
          <a:xfrm>
            <a:off x="1024128" y="29139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79" name="Text 15">
            <a:extLst>
              <a:ext uri="{FF2B5EF4-FFF2-40B4-BE49-F238E27FC236}">
                <a16:creationId xmlns:a16="http://schemas.microsoft.com/office/drawing/2014/main" id="{EC7C032F-86C9-B23A-CF46-0CD015363A57}"/>
              </a:ext>
            </a:extLst>
          </p:cNvPr>
          <p:cNvSpPr txBox="1"/>
          <p:nvPr/>
        </p:nvSpPr>
        <p:spPr>
          <a:xfrm>
            <a:off x="1024128" y="320651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integration via APIs/SDKs, minimal training needed for end-users; supports multi-language &amp; multi-accent.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81" name="Shape 16">
            <a:extLst>
              <a:ext uri="{FF2B5EF4-FFF2-40B4-BE49-F238E27FC236}">
                <a16:creationId xmlns:a16="http://schemas.microsoft.com/office/drawing/2014/main" id="{4537AA05-1DBF-23BE-479C-13ED6DA87A9E}"/>
              </a:ext>
            </a:extLst>
          </p:cNvPr>
          <p:cNvSpPr/>
          <p:nvPr/>
        </p:nvSpPr>
        <p:spPr>
          <a:xfrm>
            <a:off x="475488" y="4056908"/>
            <a:ext cx="384048" cy="38404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7583" name="Text 17">
            <a:extLst>
              <a:ext uri="{FF2B5EF4-FFF2-40B4-BE49-F238E27FC236}">
                <a16:creationId xmlns:a16="http://schemas.microsoft.com/office/drawing/2014/main" id="{9E48C69B-0938-931B-306F-3D74ECD9C9F1}"/>
              </a:ext>
            </a:extLst>
          </p:cNvPr>
          <p:cNvSpPr txBox="1"/>
          <p:nvPr/>
        </p:nvSpPr>
        <p:spPr>
          <a:xfrm>
            <a:off x="1024128" y="40569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85" name="Text 18">
            <a:extLst>
              <a:ext uri="{FF2B5EF4-FFF2-40B4-BE49-F238E27FC236}">
                <a16:creationId xmlns:a16="http://schemas.microsoft.com/office/drawing/2014/main" id="{DF2BEE51-E867-9380-C29E-29DCFAFC7AF8}"/>
              </a:ext>
            </a:extLst>
          </p:cNvPr>
          <p:cNvSpPr txBox="1"/>
          <p:nvPr/>
        </p:nvSpPr>
        <p:spPr>
          <a:xfrm>
            <a:off x="1024128" y="434951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cost-effective cloud infra; estimated ₹0.15 – ₹0.30 per call for cloud inference at scale.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87" name="Text 19">
            <a:extLst>
              <a:ext uri="{FF2B5EF4-FFF2-40B4-BE49-F238E27FC236}">
                <a16:creationId xmlns:a16="http://schemas.microsoft.com/office/drawing/2014/main" id="{990AAEA5-0443-9E07-3EF4-E6F38F8A2D50}"/>
              </a:ext>
            </a:extLst>
          </p:cNvPr>
          <p:cNvSpPr txBox="1"/>
          <p:nvPr/>
        </p:nvSpPr>
        <p:spPr>
          <a:xfrm>
            <a:off x="6281928" y="13594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&amp; Risks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589" name="Table 0">
            <a:extLst>
              <a:ext uri="{FF2B5EF4-FFF2-40B4-BE49-F238E27FC236}">
                <a16:creationId xmlns:a16="http://schemas.microsoft.com/office/drawing/2014/main" id="{1ECA155B-3952-A46A-30CF-1BC573B92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452834"/>
              </p:ext>
            </p:extLst>
          </p:nvPr>
        </p:nvGraphicFramePr>
        <p:xfrm>
          <a:off x="6281928" y="1679468"/>
          <a:ext cx="5394960" cy="4480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Impact (H/M/L)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Mitigation Strategy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Model accuracy on unseen accents / languages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Continuous training with Indian-accent datasets; active learning loop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Internet connectivity / latency issues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On-device pre-check + lightweight edge inference; async upload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Data privacy &amp; compliance (DPDP Act 2023)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Data minimization, encryption, user consent, role-based access, audit logs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Scalability during peak traffic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Auto-scaling on AWS; load balancing; caching &amp; queue-based processing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User adoption &amp; false alerts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Explainable risk score, threshold tuning, user feedback to improve model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E6983F5-FDF7-489E-51D8-D1E3562CFEE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Epoch12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0EF3297-13A2-6807-299B-7E36AC8ABA8A}"/>
              </a:ext>
            </a:extLst>
          </p:cNvPr>
          <p:cNvSpPr txBox="1">
            <a:spLocks/>
          </p:cNvSpPr>
          <p:nvPr/>
        </p:nvSpPr>
        <p:spPr bwMode="auto">
          <a:xfrm>
            <a:off x="3441291" y="628369"/>
            <a:ext cx="5296309" cy="577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6F116F81-0A18-3B6E-1680-EC5739B63712}"/>
              </a:ext>
            </a:extLst>
          </p:cNvPr>
          <p:cNvSpPr/>
          <p:nvPr/>
        </p:nvSpPr>
        <p:spPr>
          <a:xfrm>
            <a:off x="476098" y="690753"/>
            <a:ext cx="221285" cy="22128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C10AC76A-54E1-5FCF-3C63-76B2C510CB22}"/>
              </a:ext>
            </a:extLst>
          </p:cNvPr>
          <p:cNvSpPr/>
          <p:nvPr/>
        </p:nvSpPr>
        <p:spPr>
          <a:xfrm>
            <a:off x="11628120" y="6374663"/>
            <a:ext cx="365760" cy="3200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A7068799-2F24-2E99-8572-5F5EB66254C4}"/>
              </a:ext>
            </a:extLst>
          </p:cNvPr>
          <p:cNvSpPr txBox="1"/>
          <p:nvPr/>
        </p:nvSpPr>
        <p:spPr>
          <a:xfrm>
            <a:off x="11628120" y="6374663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3524ACB4-6FB6-C8EA-B31E-918397A2A265}"/>
              </a:ext>
            </a:extLst>
          </p:cNvPr>
          <p:cNvSpPr txBox="1"/>
          <p:nvPr/>
        </p:nvSpPr>
        <p:spPr>
          <a:xfrm>
            <a:off x="472440" y="1507647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Target Audience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D9CFCF07-43CD-AE4F-8B3B-E438AE9863C9}"/>
              </a:ext>
            </a:extLst>
          </p:cNvPr>
          <p:cNvSpPr/>
          <p:nvPr/>
        </p:nvSpPr>
        <p:spPr>
          <a:xfrm>
            <a:off x="518160" y="1873407"/>
            <a:ext cx="292608" cy="29260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74E7EDB-584F-CDBB-7C20-3C5B3A54BE22}"/>
              </a:ext>
            </a:extLst>
          </p:cNvPr>
          <p:cNvSpPr txBox="1"/>
          <p:nvPr/>
        </p:nvSpPr>
        <p:spPr>
          <a:xfrm>
            <a:off x="975360" y="1845975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Banks, NBFCs, Fintechs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4E4DCC9C-0AD3-0E2E-D341-6E357A856B9A}"/>
              </a:ext>
            </a:extLst>
          </p:cNvPr>
          <p:cNvSpPr/>
          <p:nvPr/>
        </p:nvSpPr>
        <p:spPr>
          <a:xfrm>
            <a:off x="518160" y="2376327"/>
            <a:ext cx="292608" cy="29260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D03DF8B3-578B-145D-6E19-2D2BFB4917C7}"/>
              </a:ext>
            </a:extLst>
          </p:cNvPr>
          <p:cNvSpPr txBox="1"/>
          <p:nvPr/>
        </p:nvSpPr>
        <p:spPr>
          <a:xfrm>
            <a:off x="975360" y="2348895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 Operators &amp; Call Centers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B6BCF94A-14F4-4E32-D125-B4D5EEFC5A19}"/>
              </a:ext>
            </a:extLst>
          </p:cNvPr>
          <p:cNvSpPr/>
          <p:nvPr/>
        </p:nvSpPr>
        <p:spPr>
          <a:xfrm>
            <a:off x="518160" y="2879247"/>
            <a:ext cx="292608" cy="29260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02C696F8-1345-47F9-984E-1A0751E1F9FE}"/>
              </a:ext>
            </a:extLst>
          </p:cNvPr>
          <p:cNvSpPr txBox="1"/>
          <p:nvPr/>
        </p:nvSpPr>
        <p:spPr>
          <a:xfrm>
            <a:off x="975360" y="2851815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Government Departments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3D61B77D-5B2F-FD82-5189-0AC8C1C96791}"/>
              </a:ext>
            </a:extLst>
          </p:cNvPr>
          <p:cNvSpPr/>
          <p:nvPr/>
        </p:nvSpPr>
        <p:spPr>
          <a:xfrm>
            <a:off x="518160" y="3382167"/>
            <a:ext cx="292608" cy="29260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491A4487-3EE9-F735-7E0C-4399355DB485}"/>
              </a:ext>
            </a:extLst>
          </p:cNvPr>
          <p:cNvSpPr txBox="1"/>
          <p:nvPr/>
        </p:nvSpPr>
        <p:spPr>
          <a:xfrm>
            <a:off x="975360" y="3354735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Enterprises (CXO Offices, HR, Finance)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1A655A03-E5BB-2E6B-D559-7EEDF0E17062}"/>
              </a:ext>
            </a:extLst>
          </p:cNvPr>
          <p:cNvSpPr/>
          <p:nvPr/>
        </p:nvSpPr>
        <p:spPr>
          <a:xfrm>
            <a:off x="518160" y="3885087"/>
            <a:ext cx="292608" cy="292608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2C08C2D0-9011-F51A-60FA-92E3CD59D7C1}"/>
              </a:ext>
            </a:extLst>
          </p:cNvPr>
          <p:cNvSpPr txBox="1"/>
          <p:nvPr/>
        </p:nvSpPr>
        <p:spPr>
          <a:xfrm>
            <a:off x="975360" y="3857655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Individuals (High-risk users)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0B7F9B80-80FB-958D-B875-C0B2B15FC264}"/>
              </a:ext>
            </a:extLst>
          </p:cNvPr>
          <p:cNvSpPr/>
          <p:nvPr/>
        </p:nvSpPr>
        <p:spPr>
          <a:xfrm>
            <a:off x="472440" y="4525167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1B2A6B"/>
          </a:solidFill>
          <a:ln/>
        </p:spPr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E57DA4D1-68CC-33E9-39B9-4D31917DF09B}"/>
              </a:ext>
            </a:extLst>
          </p:cNvPr>
          <p:cNvSpPr txBox="1"/>
          <p:nvPr/>
        </p:nvSpPr>
        <p:spPr>
          <a:xfrm>
            <a:off x="609600" y="4525167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Reach: 1+ crore users in first 2 years across India through partner ecosystems.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C4259347-74DA-708B-430E-8EF269D9679B}"/>
              </a:ext>
            </a:extLst>
          </p:cNvPr>
          <p:cNvSpPr txBox="1"/>
          <p:nvPr/>
        </p:nvSpPr>
        <p:spPr>
          <a:xfrm>
            <a:off x="5684520" y="1507647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5A3E9EFA-DE3E-83F0-3D4B-223AB1ECBA60}"/>
              </a:ext>
            </a:extLst>
          </p:cNvPr>
          <p:cNvSpPr/>
          <p:nvPr/>
        </p:nvSpPr>
        <p:spPr>
          <a:xfrm>
            <a:off x="5684520" y="1873407"/>
            <a:ext cx="1920240" cy="4206240"/>
          </a:xfrm>
          <a:prstGeom prst="roundRect">
            <a:avLst>
              <a:gd name="adj" fmla="val 3810"/>
            </a:avLst>
          </a:prstGeom>
          <a:solidFill>
            <a:srgbClr val="E8F5E9"/>
          </a:solidFill>
          <a:ln/>
        </p:spPr>
      </p:sp>
      <p:sp>
        <p:nvSpPr>
          <p:cNvPr id="51" name="Shape 24">
            <a:extLst>
              <a:ext uri="{FF2B5EF4-FFF2-40B4-BE49-F238E27FC236}">
                <a16:creationId xmlns:a16="http://schemas.microsoft.com/office/drawing/2014/main" id="{458DA10D-564A-6931-4B45-D3185FEFE859}"/>
              </a:ext>
            </a:extLst>
          </p:cNvPr>
          <p:cNvSpPr/>
          <p:nvPr/>
        </p:nvSpPr>
        <p:spPr>
          <a:xfrm>
            <a:off x="6370320" y="201056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7C2CA9AE-7C50-486A-2689-32551A5EEBFC}"/>
              </a:ext>
            </a:extLst>
          </p:cNvPr>
          <p:cNvSpPr txBox="1"/>
          <p:nvPr/>
        </p:nvSpPr>
        <p:spPr>
          <a:xfrm>
            <a:off x="5775960" y="269636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1B1888B1-98C2-FC53-9D4E-107FDDDF541A}"/>
              </a:ext>
            </a:extLst>
          </p:cNvPr>
          <p:cNvSpPr txBox="1"/>
          <p:nvPr/>
        </p:nvSpPr>
        <p:spPr>
          <a:xfrm>
            <a:off x="5821680" y="3107847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Protects citizens from voice-clone scams &amp; digital arrest fraud.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trust in digital comms &amp; telephony.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Empowers vulnerable users (elderly, rural) with AI shield.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60359DEC-8FA7-B0BC-ECDB-17D8D398575F}"/>
              </a:ext>
            </a:extLst>
          </p:cNvPr>
          <p:cNvSpPr txBox="1"/>
          <p:nvPr/>
        </p:nvSpPr>
        <p:spPr>
          <a:xfrm>
            <a:off x="5775960" y="5485287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~70% reduction in successful voice-based fraud attempts*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97F738EF-93CA-F044-9F30-EDBEF7349F5A}"/>
              </a:ext>
            </a:extLst>
          </p:cNvPr>
          <p:cNvSpPr/>
          <p:nvPr/>
        </p:nvSpPr>
        <p:spPr>
          <a:xfrm>
            <a:off x="7696200" y="1873407"/>
            <a:ext cx="1920240" cy="4206240"/>
          </a:xfrm>
          <a:prstGeom prst="roundRect">
            <a:avLst>
              <a:gd name="adj" fmla="val 3810"/>
            </a:avLst>
          </a:prstGeom>
          <a:solidFill>
            <a:srgbClr val="FDECEA"/>
          </a:solidFill>
          <a:ln/>
        </p:spPr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2171640D-BB3C-1C71-7A29-826DAC87BDA6}"/>
              </a:ext>
            </a:extLst>
          </p:cNvPr>
          <p:cNvSpPr/>
          <p:nvPr/>
        </p:nvSpPr>
        <p:spPr>
          <a:xfrm>
            <a:off x="8382000" y="201056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801F"/>
            </a:solidFill>
            <a:prstDash val="solid"/>
          </a:ln>
        </p:spPr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AA9CC5FD-230C-0594-E6D5-B80806214384}"/>
              </a:ext>
            </a:extLst>
          </p:cNvPr>
          <p:cNvSpPr txBox="1"/>
          <p:nvPr/>
        </p:nvSpPr>
        <p:spPr>
          <a:xfrm>
            <a:off x="7787640" y="269636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80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1" name="Text 31">
            <a:extLst>
              <a:ext uri="{FF2B5EF4-FFF2-40B4-BE49-F238E27FC236}">
                <a16:creationId xmlns:a16="http://schemas.microsoft.com/office/drawing/2014/main" id="{7FA890F7-5C4E-0D5C-40BA-DB14AA8053C1}"/>
              </a:ext>
            </a:extLst>
          </p:cNvPr>
          <p:cNvSpPr txBox="1"/>
          <p:nvPr/>
        </p:nvSpPr>
        <p:spPr>
          <a:xfrm>
            <a:off x="7833360" y="3107847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financial losses from fraudulent transfers.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Lowers verification cost for banks &amp; enterprises.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Boosts productivity by reducing (elderly, rural) verification.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3" name="Text 32">
            <a:extLst>
              <a:ext uri="{FF2B5EF4-FFF2-40B4-BE49-F238E27FC236}">
                <a16:creationId xmlns:a16="http://schemas.microsoft.com/office/drawing/2014/main" id="{4C846ABB-170F-F309-0090-C470656F1078}"/>
              </a:ext>
            </a:extLst>
          </p:cNvPr>
          <p:cNvSpPr txBox="1"/>
          <p:nvPr/>
        </p:nvSpPr>
        <p:spPr>
          <a:xfrm>
            <a:off x="7787640" y="5485287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480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savings of ₹500 – ₹1500 per prevented fraud case*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5" name="Shape 33">
            <a:extLst>
              <a:ext uri="{FF2B5EF4-FFF2-40B4-BE49-F238E27FC236}">
                <a16:creationId xmlns:a16="http://schemas.microsoft.com/office/drawing/2014/main" id="{C0BD73ED-60F1-9B02-AAD7-2CB9A6FF1820}"/>
              </a:ext>
            </a:extLst>
          </p:cNvPr>
          <p:cNvSpPr/>
          <p:nvPr/>
        </p:nvSpPr>
        <p:spPr>
          <a:xfrm>
            <a:off x="9707880" y="1873407"/>
            <a:ext cx="1920240" cy="4206240"/>
          </a:xfrm>
          <a:prstGeom prst="roundRect">
            <a:avLst>
              <a:gd name="adj" fmla="val 3810"/>
            </a:avLst>
          </a:prstGeom>
          <a:solidFill>
            <a:srgbClr val="E3F2FD"/>
          </a:solidFill>
          <a:ln/>
        </p:spPr>
      </p:sp>
      <p:sp>
        <p:nvSpPr>
          <p:cNvPr id="17417" name="Shape 34">
            <a:extLst>
              <a:ext uri="{FF2B5EF4-FFF2-40B4-BE49-F238E27FC236}">
                <a16:creationId xmlns:a16="http://schemas.microsoft.com/office/drawing/2014/main" id="{EB70A784-5B03-D0F4-67A1-1A24D18EA37D}"/>
              </a:ext>
            </a:extLst>
          </p:cNvPr>
          <p:cNvSpPr/>
          <p:nvPr/>
        </p:nvSpPr>
        <p:spPr>
          <a:xfrm>
            <a:off x="10393680" y="201056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2A6B"/>
            </a:solidFill>
            <a:prstDash val="solid"/>
          </a:ln>
        </p:spPr>
      </p:sp>
      <p:sp>
        <p:nvSpPr>
          <p:cNvPr id="17419" name="Text 35">
            <a:extLst>
              <a:ext uri="{FF2B5EF4-FFF2-40B4-BE49-F238E27FC236}">
                <a16:creationId xmlns:a16="http://schemas.microsoft.com/office/drawing/2014/main" id="{6750C478-52A8-D0C2-D3C0-140EC32D90BB}"/>
              </a:ext>
            </a:extLst>
          </p:cNvPr>
          <p:cNvSpPr txBox="1"/>
          <p:nvPr/>
        </p:nvSpPr>
        <p:spPr>
          <a:xfrm>
            <a:off x="9799320" y="269636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Impact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1" name="Text 36">
            <a:extLst>
              <a:ext uri="{FF2B5EF4-FFF2-40B4-BE49-F238E27FC236}">
                <a16:creationId xmlns:a16="http://schemas.microsoft.com/office/drawing/2014/main" id="{CA796A91-8B59-A849-78A6-2C7C13B0E1B5}"/>
              </a:ext>
            </a:extLst>
          </p:cNvPr>
          <p:cNvSpPr txBox="1"/>
          <p:nvPr/>
        </p:nvSpPr>
        <p:spPr>
          <a:xfrm>
            <a:off x="9845040" y="3107847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paper-based verification &amp; reporting.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cloud infra with auto-scaling to save resources.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3" name="Text 37">
            <a:extLst>
              <a:ext uri="{FF2B5EF4-FFF2-40B4-BE49-F238E27FC236}">
                <a16:creationId xmlns:a16="http://schemas.microsoft.com/office/drawing/2014/main" id="{7DDD6A27-C9B5-CEEE-20BF-4FD16809FC7C}"/>
              </a:ext>
            </a:extLst>
          </p:cNvPr>
          <p:cNvSpPr txBox="1"/>
          <p:nvPr/>
        </p:nvSpPr>
        <p:spPr>
          <a:xfrm>
            <a:off x="9799320" y="5485287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~90% reduction in paper usage for verification*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2BD4988-6EFF-FB2B-5A88-2B5FAC6BA50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Epoch12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4AFCAD4-64F9-B1F4-84B1-FD4398AF9748}"/>
              </a:ext>
            </a:extLst>
          </p:cNvPr>
          <p:cNvSpPr txBox="1">
            <a:spLocks/>
          </p:cNvSpPr>
          <p:nvPr/>
        </p:nvSpPr>
        <p:spPr bwMode="auto">
          <a:xfrm>
            <a:off x="2910348" y="481947"/>
            <a:ext cx="6371302" cy="577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62FD476-EE52-1587-7EB1-97C364DA7901}"/>
              </a:ext>
            </a:extLst>
          </p:cNvPr>
          <p:cNvSpPr/>
          <p:nvPr/>
        </p:nvSpPr>
        <p:spPr>
          <a:xfrm>
            <a:off x="460858" y="396850"/>
            <a:ext cx="221285" cy="22128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93FC955E-96DB-3320-B424-59F9A5D359F2}"/>
              </a:ext>
            </a:extLst>
          </p:cNvPr>
          <p:cNvSpPr/>
          <p:nvPr/>
        </p:nvSpPr>
        <p:spPr>
          <a:xfrm>
            <a:off x="11658600" y="6400800"/>
            <a:ext cx="365760" cy="320040"/>
          </a:xfrm>
          <a:prstGeom prst="rect">
            <a:avLst/>
          </a:prstGeom>
          <a:solidFill>
            <a:srgbClr val="1B2A6B"/>
          </a:solidFill>
          <a:ln/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A5EF86B-C105-FB39-D0DB-CAF0C8A1B577}"/>
              </a:ext>
            </a:extLst>
          </p:cNvPr>
          <p:cNvSpPr txBox="1"/>
          <p:nvPr/>
        </p:nvSpPr>
        <p:spPr>
          <a:xfrm>
            <a:off x="11658600" y="6400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057E2A6-CCCC-5D3D-4695-5BCCFF967023}"/>
              </a:ext>
            </a:extLst>
          </p:cNvPr>
          <p:cNvSpPr txBox="1"/>
          <p:nvPr/>
        </p:nvSpPr>
        <p:spPr>
          <a:xfrm>
            <a:off x="460858" y="1257523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/ Links of the Reference and Research Work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46800FCE-666E-B277-5F38-B39842F4C306}"/>
              </a:ext>
            </a:extLst>
          </p:cNvPr>
          <p:cNvSpPr/>
          <p:nvPr/>
        </p:nvSpPr>
        <p:spPr>
          <a:xfrm>
            <a:off x="502920" y="174193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80026F2-C836-0A39-599F-DA43B256633F}"/>
              </a:ext>
            </a:extLst>
          </p:cNvPr>
          <p:cNvSpPr txBox="1"/>
          <p:nvPr/>
        </p:nvSpPr>
        <p:spPr>
          <a:xfrm>
            <a:off x="502920" y="17419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4D6FE22-2ACB-8F32-2032-A10A21CE4878}"/>
              </a:ext>
            </a:extLst>
          </p:cNvPr>
          <p:cNvSpPr txBox="1"/>
          <p:nvPr/>
        </p:nvSpPr>
        <p:spPr>
          <a:xfrm>
            <a:off x="914399" y="1714500"/>
            <a:ext cx="993058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ASVspoof 2019: A Large-Scale Public Database of Spoofing and Countermeasures for Automatic Speaker Verification – (B. Wen et al., 2019)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42E008F5-BB82-4CC8-CA30-84D7CFFF23F7}"/>
              </a:ext>
            </a:extLst>
          </p:cNvPr>
          <p:cNvSpPr txBox="1"/>
          <p:nvPr/>
        </p:nvSpPr>
        <p:spPr>
          <a:xfrm>
            <a:off x="914400" y="2280927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dataset for synthetic speech detection.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9F4B54AF-35A6-9907-DBBF-91765E0E0976}"/>
              </a:ext>
            </a:extLst>
          </p:cNvPr>
          <p:cNvSpPr/>
          <p:nvPr/>
        </p:nvSpPr>
        <p:spPr>
          <a:xfrm>
            <a:off x="502920" y="261061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588F599-A7AB-191F-B215-AC6CA6457C67}"/>
              </a:ext>
            </a:extLst>
          </p:cNvPr>
          <p:cNvSpPr txBox="1"/>
          <p:nvPr/>
        </p:nvSpPr>
        <p:spPr>
          <a:xfrm>
            <a:off x="502920" y="26106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EA254DD5-BE5E-3B1D-2DCD-826D9B52D8E4}"/>
              </a:ext>
            </a:extLst>
          </p:cNvPr>
          <p:cNvSpPr txBox="1"/>
          <p:nvPr/>
        </p:nvSpPr>
        <p:spPr>
          <a:xfrm>
            <a:off x="914400" y="25831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In-the-Wild (ITW) Dataset – (Chung et al., 2019)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B3161BB9-5CA3-81F5-E4ED-D885EDBDDD6D}"/>
              </a:ext>
            </a:extLst>
          </p:cNvPr>
          <p:cNvSpPr txBox="1"/>
          <p:nvPr/>
        </p:nvSpPr>
        <p:spPr>
          <a:xfrm>
            <a:off x="914399" y="2940563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dataset for speaker verification under unconstrained conditions.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B639328F-423B-7B31-7D29-F8B84FB26842}"/>
              </a:ext>
            </a:extLst>
          </p:cNvPr>
          <p:cNvSpPr/>
          <p:nvPr/>
        </p:nvSpPr>
        <p:spPr>
          <a:xfrm>
            <a:off x="502920" y="347929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54D0835-65CF-B402-34A9-7F83DBEDBABB}"/>
              </a:ext>
            </a:extLst>
          </p:cNvPr>
          <p:cNvSpPr txBox="1"/>
          <p:nvPr/>
        </p:nvSpPr>
        <p:spPr>
          <a:xfrm>
            <a:off x="502920" y="34792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E7FF6456-1B9F-5FAF-CAD7-60A2BA1F2565}"/>
              </a:ext>
            </a:extLst>
          </p:cNvPr>
          <p:cNvSpPr txBox="1"/>
          <p:nvPr/>
        </p:nvSpPr>
        <p:spPr>
          <a:xfrm>
            <a:off x="914399" y="3451860"/>
            <a:ext cx="89375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Deepfake Detection with Deep Learning: A Survey – (J. Yi et al., IEEE Access, 2022)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76B11C50-FEC8-43B4-C1F2-F9B904B7865B}"/>
              </a:ext>
            </a:extLst>
          </p:cNvPr>
          <p:cNvSpPr txBox="1"/>
          <p:nvPr/>
        </p:nvSpPr>
        <p:spPr>
          <a:xfrm>
            <a:off x="914400" y="38084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survey of voice deepfake detection techniques.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B91461EF-0786-958C-47E4-B9C49662F558}"/>
              </a:ext>
            </a:extLst>
          </p:cNvPr>
          <p:cNvSpPr/>
          <p:nvPr/>
        </p:nvSpPr>
        <p:spPr>
          <a:xfrm>
            <a:off x="502920" y="434797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912E115-D1A6-F237-4DDF-72384D8D1AEA}"/>
              </a:ext>
            </a:extLst>
          </p:cNvPr>
          <p:cNvSpPr txBox="1"/>
          <p:nvPr/>
        </p:nvSpPr>
        <p:spPr>
          <a:xfrm>
            <a:off x="502920" y="43479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3A680E17-49B6-8575-DB2F-D7EDCD37F3B3}"/>
              </a:ext>
            </a:extLst>
          </p:cNvPr>
          <p:cNvSpPr txBox="1"/>
          <p:nvPr/>
        </p:nvSpPr>
        <p:spPr>
          <a:xfrm>
            <a:off x="914399" y="4379976"/>
            <a:ext cx="8652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Personal Data Protection Act, 2023 – MeitY, Government of India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83B97B4D-57D9-E941-CFC2-B8FF7C1016F7}"/>
              </a:ext>
            </a:extLst>
          </p:cNvPr>
          <p:cNvSpPr txBox="1"/>
          <p:nvPr/>
        </p:nvSpPr>
        <p:spPr>
          <a:xfrm>
            <a:off x="914400" y="48051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framework for data privacy, consent, and data fiduciary obligations.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E45252B0-7148-256F-8641-D725264CBF90}"/>
              </a:ext>
            </a:extLst>
          </p:cNvPr>
          <p:cNvSpPr/>
          <p:nvPr/>
        </p:nvSpPr>
        <p:spPr>
          <a:xfrm>
            <a:off x="502920" y="5216652"/>
            <a:ext cx="274320" cy="27432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B48B2194-7EE0-D4BD-B25C-ABC50F9340A8}"/>
              </a:ext>
            </a:extLst>
          </p:cNvPr>
          <p:cNvSpPr txBox="1"/>
          <p:nvPr/>
        </p:nvSpPr>
        <p:spPr>
          <a:xfrm>
            <a:off x="502920" y="52166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829DF181-834C-7136-9B58-B3E60BF27F70}"/>
              </a:ext>
            </a:extLst>
          </p:cNvPr>
          <p:cNvSpPr txBox="1"/>
          <p:nvPr/>
        </p:nvSpPr>
        <p:spPr>
          <a:xfrm>
            <a:off x="914400" y="523005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NCRP &amp; 1930 Cyber Crime Reports – Ministry of Home Affairs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A0950B54-B022-93B5-B2CB-8586D14042E8}"/>
              </a:ext>
            </a:extLst>
          </p:cNvPr>
          <p:cNvSpPr txBox="1"/>
          <p:nvPr/>
        </p:nvSpPr>
        <p:spPr>
          <a:xfrm>
            <a:off x="914400" y="5549589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Official data on voice-clone scams and digital arrest fraud trends.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7568</TotalTime>
  <Words>1029</Words>
  <Application>Microsoft Office PowerPoint</Application>
  <PresentationFormat>Widescreen</PresentationFormat>
  <Paragraphs>169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SMART INDIA HACKATHON 2026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Satyam Shrivastav</cp:lastModifiedBy>
  <cp:revision>150</cp:revision>
  <dcterms:created xsi:type="dcterms:W3CDTF">2013-12-12T18:46:50Z</dcterms:created>
  <dcterms:modified xsi:type="dcterms:W3CDTF">2026-08-28T18:32:24Z</dcterms:modified>
  <cp:category/>
</cp:coreProperties>
</file>